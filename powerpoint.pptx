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1" r:id="rId1"/>
  </p:sldMasterIdLst>
  <p:sldIdLst>
    <p:sldId id="256" r:id="rId2"/>
    <p:sldId id="257" r:id="rId3"/>
    <p:sldId id="258" r:id="rId4"/>
    <p:sldId id="259" r:id="rId5"/>
    <p:sldId id="260" r:id="rId6"/>
    <p:sldId id="262" r:id="rId7"/>
    <p:sldId id="271" r:id="rId8"/>
    <p:sldId id="263" r:id="rId9"/>
    <p:sldId id="264" r:id="rId10"/>
    <p:sldId id="265" r:id="rId11"/>
    <p:sldId id="266" r:id="rId12"/>
    <p:sldId id="267" r:id="rId13"/>
    <p:sldId id="268" r:id="rId14"/>
    <p:sldId id="270"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99FE2B-EE49-4217-8E1B-EF627966A970}" v="168" dt="2023-05-31T14:51:36.8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3101579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133854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3641856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1644394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8" name="Footer Placeholder 7"/>
          <p:cNvSpPr>
            <a:spLocks noGrp="1"/>
          </p:cNvSpPr>
          <p:nvPr>
            <p:ph type="ftr" sz="quarter" idx="11"/>
          </p:nvPr>
        </p:nvSpPr>
        <p:spPr/>
        <p:txBody>
          <a:bodyPr/>
          <a:lstStyle/>
          <a:p>
            <a:endParaRPr lang="LID4096"/>
          </a:p>
        </p:txBody>
      </p:sp>
      <p:sp>
        <p:nvSpPr>
          <p:cNvPr id="9" name="Slide Number Placeholder 8"/>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623122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4" name="Footer Placeholder 3"/>
          <p:cNvSpPr>
            <a:spLocks noGrp="1"/>
          </p:cNvSpPr>
          <p:nvPr>
            <p:ph type="ftr" sz="quarter" idx="11"/>
          </p:nvPr>
        </p:nvSpPr>
        <p:spPr/>
        <p:txBody>
          <a:bodyPr/>
          <a:lstStyle/>
          <a:p>
            <a:endParaRPr lang="LID4096"/>
          </a:p>
        </p:txBody>
      </p:sp>
      <p:sp>
        <p:nvSpPr>
          <p:cNvPr id="5" name="Slide Number Placeholder 4"/>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2746554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3" name="Footer Placeholder 2"/>
          <p:cNvSpPr>
            <a:spLocks noGrp="1"/>
          </p:cNvSpPr>
          <p:nvPr>
            <p:ph type="ftr" sz="quarter" idx="11"/>
          </p:nvPr>
        </p:nvSpPr>
        <p:spPr/>
        <p:txBody>
          <a:bodyPr/>
          <a:lstStyle/>
          <a:p>
            <a:endParaRPr lang="LID4096"/>
          </a:p>
        </p:txBody>
      </p:sp>
      <p:sp>
        <p:nvSpPr>
          <p:cNvPr id="4" name="Slide Number Placeholder 3"/>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3943498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3532717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3965601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3181708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4074129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347EA5BD-4D81-4885-9DF8-496B65101F4E}" type="slidenum">
              <a:rPr lang="LID4096" smtClean="0"/>
              <a:t>‹#›</a:t>
            </a:fld>
            <a:endParaRPr lang="LID4096"/>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72675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2285997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4" name="Footer Placeholder 3"/>
          <p:cNvSpPr>
            <a:spLocks noGrp="1"/>
          </p:cNvSpPr>
          <p:nvPr>
            <p:ph type="ftr" sz="quarter" idx="11"/>
          </p:nvPr>
        </p:nvSpPr>
        <p:spPr/>
        <p:txBody>
          <a:bodyPr/>
          <a:lstStyle/>
          <a:p>
            <a:endParaRPr lang="LID4096"/>
          </a:p>
        </p:txBody>
      </p:sp>
      <p:sp>
        <p:nvSpPr>
          <p:cNvPr id="5" name="Slide Number Placeholder 4"/>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25039697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4" name="Footer Placeholder 3"/>
          <p:cNvSpPr>
            <a:spLocks noGrp="1"/>
          </p:cNvSpPr>
          <p:nvPr>
            <p:ph type="ftr" sz="quarter" idx="11"/>
          </p:nvPr>
        </p:nvSpPr>
        <p:spPr/>
        <p:txBody>
          <a:bodyPr/>
          <a:lstStyle/>
          <a:p>
            <a:endParaRPr lang="LID4096"/>
          </a:p>
        </p:txBody>
      </p:sp>
      <p:sp>
        <p:nvSpPr>
          <p:cNvPr id="5" name="Slide Number Placeholder 4"/>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16333477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29273270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1266793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B6E964-6030-43A8-9C89-62C41AF9BB1F}" type="datetimeFigureOut">
              <a:rPr lang="LID4096" smtClean="0"/>
              <a:t>01/09/2025</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347EA5BD-4D81-4885-9DF8-496B65101F4E}" type="slidenum">
              <a:rPr lang="LID4096" smtClean="0"/>
              <a:t>‹#›</a:t>
            </a:fld>
            <a:endParaRPr lang="LID4096"/>
          </a:p>
        </p:txBody>
      </p:sp>
    </p:spTree>
    <p:extLst>
      <p:ext uri="{BB962C8B-B14F-4D97-AF65-F5344CB8AC3E}">
        <p14:creationId xmlns:p14="http://schemas.microsoft.com/office/powerpoint/2010/main" val="4117300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B8B6E964-6030-43A8-9C89-62C41AF9BB1F}" type="datetimeFigureOut">
              <a:rPr lang="LID4096" smtClean="0"/>
              <a:t>01/09/2025</a:t>
            </a:fld>
            <a:endParaRPr lang="LID4096"/>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LID4096"/>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347EA5BD-4D81-4885-9DF8-496B65101F4E}" type="slidenum">
              <a:rPr lang="LID4096" smtClean="0"/>
              <a:t>‹#›</a:t>
            </a:fld>
            <a:endParaRPr lang="LID4096"/>
          </a:p>
        </p:txBody>
      </p:sp>
    </p:spTree>
    <p:extLst>
      <p:ext uri="{BB962C8B-B14F-4D97-AF65-F5344CB8AC3E}">
        <p14:creationId xmlns:p14="http://schemas.microsoft.com/office/powerpoint/2010/main" val="4246383442"/>
      </p:ext>
    </p:extLst>
  </p:cSld>
  <p:clrMap bg1="dk1" tx1="lt1" bg2="dk2" tx2="lt2" accent1="accent1" accent2="accent2" accent3="accent3" accent4="accent4" accent5="accent5" accent6="accent6" hlink="hlink" folHlink="folHlink"/>
  <p:sldLayoutIdLst>
    <p:sldLayoutId id="2147484022" r:id="rId1"/>
    <p:sldLayoutId id="2147484023" r:id="rId2"/>
    <p:sldLayoutId id="2147484024" r:id="rId3"/>
    <p:sldLayoutId id="2147484025" r:id="rId4"/>
    <p:sldLayoutId id="2147484026" r:id="rId5"/>
    <p:sldLayoutId id="2147484027" r:id="rId6"/>
    <p:sldLayoutId id="2147484028" r:id="rId7"/>
    <p:sldLayoutId id="2147484029" r:id="rId8"/>
    <p:sldLayoutId id="2147484030" r:id="rId9"/>
    <p:sldLayoutId id="2147484031" r:id="rId10"/>
    <p:sldLayoutId id="2147484032" r:id="rId11"/>
    <p:sldLayoutId id="2147484033" r:id="rId12"/>
    <p:sldLayoutId id="2147484034" r:id="rId13"/>
    <p:sldLayoutId id="2147484035" r:id="rId14"/>
    <p:sldLayoutId id="2147484036" r:id="rId15"/>
    <p:sldLayoutId id="2147484037" r:id="rId16"/>
    <p:sldLayoutId id="2147484038" r:id="rId17"/>
    <p:sldLayoutId id="2147484039"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18.xml"/><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 Id="rId5" Type="http://schemas.openxmlformats.org/officeDocument/2006/relationships/image" Target="../media/image15.jpg"/><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18.xml"/><Relationship Id="rId4" Type="http://schemas.openxmlformats.org/officeDocument/2006/relationships/image" Target="../media/image18.jpg"/></Relationships>
</file>

<file path=ppt/slides/_rels/slide1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18.xml"/><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18.xml"/><Relationship Id="rId5" Type="http://schemas.openxmlformats.org/officeDocument/2006/relationships/image" Target="../media/image30.jpg"/><Relationship Id="rId4" Type="http://schemas.openxmlformats.org/officeDocument/2006/relationships/image" Target="../media/image29.jpg"/></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52549-19FF-6B4B-AC46-8E4683708640}"/>
              </a:ext>
            </a:extLst>
          </p:cNvPr>
          <p:cNvSpPr>
            <a:spLocks noGrp="1"/>
          </p:cNvSpPr>
          <p:nvPr>
            <p:ph type="ctrTitle"/>
          </p:nvPr>
        </p:nvSpPr>
        <p:spPr>
          <a:xfrm>
            <a:off x="1751012" y="933059"/>
            <a:ext cx="8689976" cy="1272853"/>
          </a:xfrm>
        </p:spPr>
        <p:txBody>
          <a:bodyPr>
            <a:normAutofit/>
          </a:bodyPr>
          <a:lstStyle/>
          <a:p>
            <a:r>
              <a:rPr lang="en-US" sz="7200" cap="none" dirty="0">
                <a:latin typeface="Abadi" panose="020B0604020104020204" pitchFamily="34" charset="0"/>
                <a:ea typeface="Tahoma" panose="020B0604030504040204" pitchFamily="34" charset="0"/>
                <a:cs typeface="Tahoma" panose="020B0604030504040204" pitchFamily="34" charset="0"/>
              </a:rPr>
              <a:t>Shipping</a:t>
            </a:r>
            <a:r>
              <a:rPr lang="en-US" sz="6600" cap="none" dirty="0">
                <a:latin typeface="Abadi" panose="020B0604020104020204" pitchFamily="34" charset="0"/>
                <a:ea typeface="Tahoma" panose="020B0604030504040204" pitchFamily="34" charset="0"/>
                <a:cs typeface="Tahoma" panose="020B0604030504040204" pitchFamily="34" charset="0"/>
              </a:rPr>
              <a:t> </a:t>
            </a:r>
            <a:r>
              <a:rPr lang="en-US" sz="7200" cap="none" dirty="0">
                <a:latin typeface="Abadi" panose="020B0604020104020204" pitchFamily="34" charset="0"/>
                <a:ea typeface="Tahoma" panose="020B0604030504040204" pitchFamily="34" charset="0"/>
                <a:cs typeface="Tahoma" panose="020B0604030504040204" pitchFamily="34" charset="0"/>
              </a:rPr>
              <a:t>Company</a:t>
            </a:r>
            <a:endParaRPr lang="LID4096" sz="6600" dirty="0">
              <a:latin typeface="Abadi" panose="020B0604020104020204" pitchFamily="34" charset="0"/>
              <a:ea typeface="Tahoma" panose="020B0604030504040204" pitchFamily="34" charset="0"/>
              <a:cs typeface="Tahoma" panose="020B0604030504040204" pitchFamily="34" charset="0"/>
            </a:endParaRPr>
          </a:p>
        </p:txBody>
      </p:sp>
      <p:pic>
        <p:nvPicPr>
          <p:cNvPr id="1028" name="Picture 4" descr="A Day in Life of a Container Ship in Middle of the Ocean - YouTube">
            <a:extLst>
              <a:ext uri="{FF2B5EF4-FFF2-40B4-BE49-F238E27FC236}">
                <a16:creationId xmlns:a16="http://schemas.microsoft.com/office/drawing/2014/main" id="{9A3C63C2-7403-837D-C05E-88AAD32778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8482" y="2205912"/>
            <a:ext cx="5895036" cy="3315958"/>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7F94A7E4-4047-1997-F46F-418678694F94}"/>
              </a:ext>
            </a:extLst>
          </p:cNvPr>
          <p:cNvSpPr txBox="1">
            <a:spLocks/>
          </p:cNvSpPr>
          <p:nvPr/>
        </p:nvSpPr>
        <p:spPr>
          <a:xfrm>
            <a:off x="-298580" y="6472562"/>
            <a:ext cx="8181088" cy="385438"/>
          </a:xfrm>
          <a:prstGeom prst="rect">
            <a:avLst/>
          </a:prstGeom>
        </p:spPr>
        <p:txBody>
          <a:bodyPr vert="horz" lIns="91440" tIns="45720" rIns="91440" bIns="45720" rtlCol="0">
            <a:normAutofit fontScale="70000" lnSpcReduction="20000"/>
          </a:bodyPr>
          <a:lstStyle>
            <a:lvl1pPr marL="0" indent="0" algn="ctr" defTabSz="914400" rtl="0" eaLnBrk="1" latinLnBrk="0" hangingPunct="1">
              <a:lnSpc>
                <a:spcPct val="120000"/>
              </a:lnSpc>
              <a:spcBef>
                <a:spcPts val="1000"/>
              </a:spcBef>
              <a:buClr>
                <a:schemeClr val="tx1"/>
              </a:buClr>
              <a:buFont typeface="Arial" panose="020B0604020202020204" pitchFamily="34" charset="0"/>
              <a:buNone/>
              <a:defRPr sz="2200" kern="1200" cap="all" baseline="0">
                <a:solidFill>
                  <a:schemeClr val="bg1">
                    <a:lumMod val="50000"/>
                  </a:schemeClr>
                </a:solidFill>
                <a:effectLst/>
                <a:latin typeface="+mn-lt"/>
                <a:ea typeface="+mn-ea"/>
                <a:cs typeface="+mn-cs"/>
              </a:defRPr>
            </a:lvl1pPr>
            <a:lvl2pPr marL="457200" indent="0" algn="ctr" defTabSz="914400" rtl="0" eaLnBrk="1" latinLnBrk="0" hangingPunct="1">
              <a:lnSpc>
                <a:spcPct val="120000"/>
              </a:lnSpc>
              <a:spcBef>
                <a:spcPts val="500"/>
              </a:spcBef>
              <a:buClr>
                <a:schemeClr val="tx1"/>
              </a:buClr>
              <a:buFont typeface="Arial" panose="020B0604020202020204" pitchFamily="34" charset="0"/>
              <a:buNone/>
              <a:defRPr sz="2000" kern="1200" cap="all"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tx1"/>
              </a:buClr>
              <a:buFont typeface="Arial" panose="020B0604020202020204" pitchFamily="34" charset="0"/>
              <a:buNone/>
              <a:defRPr sz="1800" kern="1200" cap="all" baseline="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9pPr>
          </a:lstStyle>
          <a:p>
            <a:pPr>
              <a:lnSpc>
                <a:spcPct val="150000"/>
              </a:lnSpc>
            </a:pPr>
            <a:r>
              <a:rPr lang="en-US" cap="none" dirty="0">
                <a:solidFill>
                  <a:schemeClr val="bg1"/>
                </a:solidFill>
                <a:latin typeface="Abadi" panose="020B0604020104020204" pitchFamily="34" charset="0"/>
                <a:ea typeface="Tahoma" panose="020B0604030504040204" pitchFamily="34" charset="0"/>
                <a:cs typeface="Tahoma" panose="020B0604030504040204" pitchFamily="34" charset="0"/>
              </a:rPr>
              <a:t>Ariela </a:t>
            </a:r>
            <a:r>
              <a:rPr lang="en-US" cap="none">
                <a:solidFill>
                  <a:schemeClr val="bg1"/>
                </a:solidFill>
                <a:latin typeface="Abadi" panose="020B0604020104020204" pitchFamily="34" charset="0"/>
                <a:ea typeface="Tahoma" panose="020B0604030504040204" pitchFamily="34" charset="0"/>
                <a:cs typeface="Tahoma" panose="020B0604030504040204" pitchFamily="34" charset="0"/>
              </a:rPr>
              <a:t>Epstein | </a:t>
            </a:r>
            <a:r>
              <a:rPr lang="en-US" cap="none" dirty="0">
                <a:solidFill>
                  <a:schemeClr val="bg1"/>
                </a:solidFill>
                <a:latin typeface="Abadi" panose="020B0604020104020204" pitchFamily="34" charset="0"/>
                <a:ea typeface="Tahoma" panose="020B0604030504040204" pitchFamily="34" charset="0"/>
                <a:cs typeface="Tahoma" panose="020B0604030504040204" pitchFamily="34" charset="0"/>
              </a:rPr>
              <a:t>Shlomo </a:t>
            </a:r>
            <a:r>
              <a:rPr lang="en-US" cap="none" dirty="0" err="1">
                <a:solidFill>
                  <a:schemeClr val="bg1"/>
                </a:solidFill>
                <a:latin typeface="Abadi" panose="020B0604020104020204" pitchFamily="34" charset="0"/>
                <a:ea typeface="Tahoma" panose="020B0604030504040204" pitchFamily="34" charset="0"/>
                <a:cs typeface="Tahoma" panose="020B0604030504040204" pitchFamily="34" charset="0"/>
              </a:rPr>
              <a:t>Vovek</a:t>
            </a:r>
            <a:r>
              <a:rPr lang="en-US" cap="none" dirty="0">
                <a:solidFill>
                  <a:schemeClr val="bg1"/>
                </a:solidFill>
                <a:latin typeface="Abadi" panose="020B0604020104020204" pitchFamily="34" charset="0"/>
                <a:ea typeface="Tahoma" panose="020B0604030504040204" pitchFamily="34" charset="0"/>
                <a:cs typeface="Tahoma" panose="020B0604030504040204" pitchFamily="34" charset="0"/>
              </a:rPr>
              <a:t> | Tomer Karmazin</a:t>
            </a:r>
            <a:endParaRPr lang="LID4096" cap="none" dirty="0">
              <a:solidFill>
                <a:schemeClr val="bg1"/>
              </a:solidFill>
              <a:latin typeface="Abadi" panose="020B060402010402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13511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style.rotation</p:attrName>
                                        </p:attrNameLst>
                                      </p:cBhvr>
                                      <p:tavLst>
                                        <p:tav tm="0">
                                          <p:val>
                                            <p:fltVal val="720"/>
                                          </p:val>
                                        </p:tav>
                                        <p:tav tm="100000">
                                          <p:val>
                                            <p:fltVal val="0"/>
                                          </p:val>
                                        </p:tav>
                                      </p:tavLst>
                                    </p:anim>
                                    <p:anim calcmode="lin" valueType="num">
                                      <p:cBhvr>
                                        <p:cTn id="9" dur="2000" fill="hold"/>
                                        <p:tgtEl>
                                          <p:spTgt spid="2"/>
                                        </p:tgtEl>
                                        <p:attrNameLst>
                                          <p:attrName>ppt_h</p:attrName>
                                        </p:attrNameLst>
                                      </p:cBhvr>
                                      <p:tavLst>
                                        <p:tav tm="0">
                                          <p:val>
                                            <p:fltVal val="0"/>
                                          </p:val>
                                        </p:tav>
                                        <p:tav tm="100000">
                                          <p:val>
                                            <p:strVal val="#ppt_h"/>
                                          </p:val>
                                        </p:tav>
                                      </p:tavLst>
                                    </p:anim>
                                    <p:anim calcmode="lin" valueType="num">
                                      <p:cBhvr>
                                        <p:cTn id="10" dur="2000" fill="hold"/>
                                        <p:tgtEl>
                                          <p:spTgt spid="2"/>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52"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animScale>
                                      <p:cBhvr>
                                        <p:cTn id="15" dur="1000" decel="50000" fill="hold">
                                          <p:stCondLst>
                                            <p:cond delay="0"/>
                                          </p:stCondLst>
                                        </p:cTn>
                                        <p:tgtEl>
                                          <p:spTgt spid="102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6" dur="1000" decel="50000" fill="hold">
                                          <p:stCondLst>
                                            <p:cond delay="0"/>
                                          </p:stCondLst>
                                        </p:cTn>
                                        <p:tgtEl>
                                          <p:spTgt spid="1028"/>
                                        </p:tgtEl>
                                        <p:attrNameLst>
                                          <p:attrName>ppt_x</p:attrName>
                                          <p:attrName>ppt_y</p:attrName>
                                        </p:attrNameLst>
                                      </p:cBhvr>
                                    </p:animMotion>
                                    <p:animEffect transition="in" filter="fade">
                                      <p:cBhvr>
                                        <p:cTn id="17"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82DB-5068-F8B1-E1BD-03A0AB74777D}"/>
              </a:ext>
            </a:extLst>
          </p:cNvPr>
          <p:cNvSpPr>
            <a:spLocks noGrp="1"/>
          </p:cNvSpPr>
          <p:nvPr>
            <p:ph type="title"/>
          </p:nvPr>
        </p:nvSpPr>
        <p:spPr/>
        <p:txBody>
          <a:bodyPr>
            <a:normAutofit/>
          </a:bodyPr>
          <a:lstStyle/>
          <a:p>
            <a:r>
              <a:rPr lang="en-US" sz="4800" kern="100" cap="none" dirty="0">
                <a:effectLst/>
                <a:latin typeface="Abadi" panose="020B0604020104020204" pitchFamily="34" charset="0"/>
                <a:ea typeface="Tahoma" panose="020B0604030504040204" pitchFamily="34" charset="0"/>
                <a:cs typeface="Tahoma" panose="020B0604030504040204" pitchFamily="34" charset="0"/>
              </a:rPr>
              <a:t>General Description</a:t>
            </a:r>
            <a:endParaRPr lang="LID4096" sz="8000" cap="none" dirty="0">
              <a:latin typeface="Abadi" panose="020B060402010402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A98C8092-D554-85B1-5C6C-C1998AD0E37B}"/>
              </a:ext>
            </a:extLst>
          </p:cNvPr>
          <p:cNvSpPr>
            <a:spLocks noGrp="1"/>
          </p:cNvSpPr>
          <p:nvPr>
            <p:ph idx="1"/>
          </p:nvPr>
        </p:nvSpPr>
        <p:spPr>
          <a:xfrm>
            <a:off x="913775" y="2339101"/>
            <a:ext cx="10364452" cy="3424107"/>
          </a:xfrm>
        </p:spPr>
        <p:txBody>
          <a:bodyPr/>
          <a:lstStyle/>
          <a:p>
            <a:pPr marL="0" indent="0">
              <a:lnSpc>
                <a:spcPct val="150000"/>
              </a:lnSpc>
              <a:buNone/>
            </a:pPr>
            <a:r>
              <a:rPr lang="en-US" sz="1800" kern="100" cap="none" dirty="0">
                <a:solidFill>
                  <a:schemeClr val="bg1"/>
                </a:solidFill>
                <a:effectLst/>
                <a:latin typeface="Abadi" panose="020B0604020104020204" pitchFamily="34" charset="0"/>
                <a:ea typeface="Calibri" panose="020F0502020204030204" pitchFamily="34" charset="0"/>
                <a:cs typeface="Arial" panose="020B0604020202020204" pitchFamily="34" charset="0"/>
              </a:rPr>
              <a:t>Our database management system allows its users to efficiently store, organize, manage, and retrieve data about our ships and deliveries. We can track your orders in every corner of the world, ensuring that your products will arrive quickly and safely to your homes. This system chooses the right ship, containers, and crew for your product’s journey. </a:t>
            </a:r>
          </a:p>
          <a:p>
            <a:pPr marL="0" indent="0">
              <a:lnSpc>
                <a:spcPct val="150000"/>
              </a:lnSpc>
              <a:buNone/>
            </a:pPr>
            <a:endParaRPr lang="LID4096" cap="none" dirty="0">
              <a:solidFill>
                <a:schemeClr val="bg1"/>
              </a:solidFill>
              <a:latin typeface="Abadi" panose="020B0604020104020204" pitchFamily="34" charset="0"/>
              <a:ea typeface="Tahoma" panose="020B0604030504040204" pitchFamily="34" charset="0"/>
              <a:cs typeface="Tahoma" panose="020B0604030504040204" pitchFamily="34" charset="0"/>
            </a:endParaRPr>
          </a:p>
        </p:txBody>
      </p:sp>
      <p:pic>
        <p:nvPicPr>
          <p:cNvPr id="3074" name="Picture 2" descr="Shippers Saw a Need for Bigger Boats. They Built Them Too Big - Bloomberg">
            <a:extLst>
              <a:ext uri="{FF2B5EF4-FFF2-40B4-BE49-F238E27FC236}">
                <a16:creationId xmlns:a16="http://schemas.microsoft.com/office/drawing/2014/main" id="{D40AD787-8EC7-41A4-50BA-C33235D9E7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0813" y="4051154"/>
            <a:ext cx="4149260" cy="268255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546329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4EFC2-1D22-C37A-EF5D-F358FB7B2632}"/>
              </a:ext>
            </a:extLst>
          </p:cNvPr>
          <p:cNvSpPr>
            <a:spLocks noGrp="1"/>
          </p:cNvSpPr>
          <p:nvPr>
            <p:ph type="title"/>
          </p:nvPr>
        </p:nvSpPr>
        <p:spPr/>
        <p:txBody>
          <a:bodyPr>
            <a:normAutofit/>
          </a:bodyPr>
          <a:lstStyle/>
          <a:p>
            <a:r>
              <a:rPr lang="en-US" sz="4800" kern="100" cap="none" dirty="0">
                <a:latin typeface="Abadi" panose="020B0604020104020204" pitchFamily="34" charset="0"/>
                <a:ea typeface="Tahoma" panose="020B0604030504040204" pitchFamily="34" charset="0"/>
                <a:cs typeface="Tahoma" panose="020B0604030504040204" pitchFamily="34" charset="0"/>
              </a:rPr>
              <a:t>The User Types Of Our Data-base System</a:t>
            </a:r>
            <a:endParaRPr lang="LID4096" sz="4800" kern="100" cap="none" dirty="0">
              <a:latin typeface="Abadi" panose="020B060402010402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33C26F23-F495-701F-1448-14CE9E6859B7}"/>
              </a:ext>
            </a:extLst>
          </p:cNvPr>
          <p:cNvSpPr>
            <a:spLocks noGrp="1"/>
          </p:cNvSpPr>
          <p:nvPr>
            <p:ph idx="1"/>
          </p:nvPr>
        </p:nvSpPr>
        <p:spPr>
          <a:xfrm>
            <a:off x="913775" y="2367093"/>
            <a:ext cx="10364452" cy="4145674"/>
          </a:xfrm>
        </p:spPr>
        <p:txBody>
          <a:bodyPr>
            <a:noAutofit/>
          </a:bodyPr>
          <a:lstStyle/>
          <a:p>
            <a:pPr marL="0" indent="0" algn="l" rtl="1">
              <a:lnSpc>
                <a:spcPct val="100000"/>
              </a:lnSpc>
              <a:spcAft>
                <a:spcPts val="800"/>
              </a:spcAft>
              <a:buNone/>
            </a:pPr>
            <a:r>
              <a:rPr lang="en-US" sz="1800" b="1" u="sng"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Orders Manager</a:t>
            </a:r>
          </a:p>
          <a:p>
            <a:pPr marL="0" indent="0" algn="l" rtl="1">
              <a:lnSpc>
                <a:spcPct val="100000"/>
              </a:lnSpc>
              <a:spcAft>
                <a:spcPts val="800"/>
              </a:spcAft>
              <a:buNone/>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The orders manager has the responsibility of receiving shipping orders from customers and finding the right containers and ships for each order. His main goal is maximizing the number of orders shipped out on each boat. The orders manager traces each order by using a unique ID for every order, container, and good. Once the orders manager finishes loading each ship with filled containers, he creates a scheduled route for the ship to take.</a:t>
            </a:r>
          </a:p>
          <a:p>
            <a:pPr marL="0" indent="0" algn="l" rtl="1">
              <a:lnSpc>
                <a:spcPct val="100000"/>
              </a:lnSpc>
              <a:spcAft>
                <a:spcPts val="800"/>
              </a:spcAft>
              <a:buNone/>
            </a:pPr>
            <a:r>
              <a:rPr lang="en-US" sz="1800" b="1" u="sng"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Operatives Manager</a:t>
            </a:r>
          </a:p>
          <a:p>
            <a:pPr marL="0" indent="0" algn="l" rtl="1">
              <a:lnSpc>
                <a:spcPct val="100000"/>
              </a:lnSpc>
              <a:spcAft>
                <a:spcPts val="800"/>
              </a:spcAft>
              <a:buNone/>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The ops. manager’s job is to execute the scheduled routes as efficiently as possible. He is responsible for creating the actual routes taken between the scheduled routes. He plans out where the ship will actually dock and refuel. He oversees hiring the crew members for each ship’s schedule. As well as overall maintenance and repairs for the ships and provides the ships for use.</a:t>
            </a:r>
            <a:endParaRPr lang="en-US" sz="1800" b="1" u="sng" kern="100" cap="none" dirty="0">
              <a:solidFill>
                <a:schemeClr val="bg1"/>
              </a:solidFill>
              <a:latin typeface="Abadi" panose="020B0604020104020204" pitchFamily="34" charset="0"/>
              <a:ea typeface="Calibri" panose="020F0502020204030204" pitchFamily="34" charset="0"/>
              <a:cs typeface="Arial" panose="020B0604020202020204" pitchFamily="34" charset="0"/>
            </a:endParaRPr>
          </a:p>
          <a:p>
            <a:pPr marL="0" indent="0" algn="l" rtl="1">
              <a:lnSpc>
                <a:spcPct val="100000"/>
              </a:lnSpc>
              <a:spcAft>
                <a:spcPts val="800"/>
              </a:spcAft>
              <a:buNone/>
            </a:pPr>
            <a:endPar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endParaRPr>
          </a:p>
          <a:p>
            <a:pPr marL="0" indent="0">
              <a:lnSpc>
                <a:spcPct val="100000"/>
              </a:lnSpc>
              <a:buNone/>
            </a:pPr>
            <a:endParaRPr lang="LID4096" sz="1800" dirty="0"/>
          </a:p>
        </p:txBody>
      </p:sp>
    </p:spTree>
    <p:extLst>
      <p:ext uri="{BB962C8B-B14F-4D97-AF65-F5344CB8AC3E}">
        <p14:creationId xmlns:p14="http://schemas.microsoft.com/office/powerpoint/2010/main" val="2808300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B2928-1F04-9F9A-4AAC-D5B53C7A51B5}"/>
              </a:ext>
            </a:extLst>
          </p:cNvPr>
          <p:cNvSpPr>
            <a:spLocks noGrp="1"/>
          </p:cNvSpPr>
          <p:nvPr>
            <p:ph type="title"/>
          </p:nvPr>
        </p:nvSpPr>
        <p:spPr/>
        <p:txBody>
          <a:bodyPr/>
          <a:lstStyle/>
          <a:p>
            <a:r>
              <a:rPr lang="en-US" sz="4800" kern="100" cap="none" dirty="0">
                <a:latin typeface="Abadi" panose="020B0604020104020204" pitchFamily="34" charset="0"/>
                <a:ea typeface="Tahoma" panose="020B0604030504040204" pitchFamily="34" charset="0"/>
                <a:cs typeface="Tahoma" panose="020B0604030504040204" pitchFamily="34" charset="0"/>
              </a:rPr>
              <a:t>Entities</a:t>
            </a:r>
            <a:endParaRPr lang="LID4096" sz="4800" kern="100" cap="none" dirty="0">
              <a:latin typeface="Abadi" panose="020B060402010402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826AF2BD-93B1-4B27-7F2A-E4B8C0BBAAEA}"/>
              </a:ext>
            </a:extLst>
          </p:cNvPr>
          <p:cNvSpPr>
            <a:spLocks noGrp="1"/>
          </p:cNvSpPr>
          <p:nvPr>
            <p:ph idx="1"/>
          </p:nvPr>
        </p:nvSpPr>
        <p:spPr>
          <a:xfrm>
            <a:off x="913775" y="2367093"/>
            <a:ext cx="10364452" cy="4024376"/>
          </a:xfrm>
        </p:spPr>
        <p:txBody>
          <a:bodyPr>
            <a:normAutofit fontScale="25000" lnSpcReduction="20000"/>
          </a:bodyPr>
          <a:lstStyle/>
          <a:p>
            <a:pPr>
              <a:spcAft>
                <a:spcPts val="800"/>
              </a:spcAft>
            </a:pPr>
            <a:r>
              <a:rPr lang="en-US" sz="72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SHIPS – The core of our company. We use ships to deliver goods from port to port. Every ship has a name, id, status, crew capacity, weight capacity, source port, destination port. One ship houses multiple crew members and takes on many different schedules.</a:t>
            </a:r>
          </a:p>
          <a:p>
            <a:pPr>
              <a:spcAft>
                <a:spcPts val="800"/>
              </a:spcAft>
            </a:pPr>
            <a:r>
              <a:rPr lang="en-US" sz="72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Crew – From the captain and the engineers, to the cooks and the deckhands. For each crew member we store a name, ID, role, and ship id they are currently working on.</a:t>
            </a:r>
          </a:p>
          <a:p>
            <a:pPr>
              <a:spcAft>
                <a:spcPts val="800"/>
              </a:spcAft>
            </a:pPr>
            <a:r>
              <a:rPr lang="en-US" sz="72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Schedule – This stores the scheduled routes for each ship. It lists the ship id, source port, destination port, estimated departure date, and estimated arrival date.</a:t>
            </a:r>
          </a:p>
          <a:p>
            <a:pPr>
              <a:spcAft>
                <a:spcPts val="800"/>
              </a:spcAft>
            </a:pPr>
            <a:r>
              <a:rPr lang="en-US" sz="72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Actual sailing – This is a weak entity. It stores the real departure dates and arrival dates of each scheduled route, and the stops that the ship will take on its way to fulfill the scheduled route. This represents the actual route that the ship will take. </a:t>
            </a:r>
          </a:p>
          <a:p>
            <a:pPr>
              <a:spcAft>
                <a:spcPts val="800"/>
              </a:spcAft>
            </a:pPr>
            <a:r>
              <a:rPr lang="en-US" sz="72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Ports – These are the sources and destinations for every route. Each port has an ID and a name. </a:t>
            </a:r>
          </a:p>
        </p:txBody>
      </p:sp>
      <p:pic>
        <p:nvPicPr>
          <p:cNvPr id="4" name="Picture 6" descr="Cargo Ship Vector Art, Icons, and Graphics for Free Download">
            <a:extLst>
              <a:ext uri="{FF2B5EF4-FFF2-40B4-BE49-F238E27FC236}">
                <a16:creationId xmlns:a16="http://schemas.microsoft.com/office/drawing/2014/main" id="{11E0A552-7FC7-8A1E-8026-F437751A0F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7127" y="810130"/>
            <a:ext cx="1772816" cy="1212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157573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3B3D9-4CA5-0424-0D2D-90D2E8033623}"/>
              </a:ext>
            </a:extLst>
          </p:cNvPr>
          <p:cNvSpPr>
            <a:spLocks noGrp="1"/>
          </p:cNvSpPr>
          <p:nvPr>
            <p:ph type="title"/>
          </p:nvPr>
        </p:nvSpPr>
        <p:spPr/>
        <p:txBody>
          <a:bodyPr/>
          <a:lstStyle/>
          <a:p>
            <a:r>
              <a:rPr lang="en-US" sz="4800" kern="100" cap="none" dirty="0">
                <a:latin typeface="Abadi" panose="020B0604020104020204" pitchFamily="34" charset="0"/>
                <a:ea typeface="Tahoma" panose="020B0604030504040204" pitchFamily="34" charset="0"/>
                <a:cs typeface="Tahoma" panose="020B0604030504040204" pitchFamily="34" charset="0"/>
              </a:rPr>
              <a:t>Entities</a:t>
            </a:r>
            <a:endParaRPr lang="LID4096" dirty="0"/>
          </a:p>
        </p:txBody>
      </p:sp>
      <p:sp>
        <p:nvSpPr>
          <p:cNvPr id="3" name="Content Placeholder 2">
            <a:extLst>
              <a:ext uri="{FF2B5EF4-FFF2-40B4-BE49-F238E27FC236}">
                <a16:creationId xmlns:a16="http://schemas.microsoft.com/office/drawing/2014/main" id="{01A7DC76-9FD6-FF2C-F84B-77B9DFD4F566}"/>
              </a:ext>
            </a:extLst>
          </p:cNvPr>
          <p:cNvSpPr>
            <a:spLocks noGrp="1"/>
          </p:cNvSpPr>
          <p:nvPr>
            <p:ph idx="1"/>
          </p:nvPr>
        </p:nvSpPr>
        <p:spPr>
          <a:xfrm>
            <a:off x="913775" y="2214692"/>
            <a:ext cx="10364452" cy="4322956"/>
          </a:xfrm>
        </p:spPr>
        <p:txBody>
          <a:bodyPr>
            <a:noAutofit/>
          </a:bodyPr>
          <a:lstStyle/>
          <a:p>
            <a:pPr>
              <a:lnSpc>
                <a:spcPct val="100000"/>
              </a:lnSpc>
              <a:spcAft>
                <a:spcPts val="800"/>
              </a:spcAft>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Delivery – This contains every order and its container that it’s in, and every ship it’s in, and every schedule it is in. </a:t>
            </a:r>
          </a:p>
          <a:p>
            <a:pPr>
              <a:lnSpc>
                <a:spcPct val="100000"/>
              </a:lnSpc>
              <a:spcAft>
                <a:spcPts val="800"/>
              </a:spcAft>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Containers – The containers store every order being shipped. Each container has an ID, size, weight capacity, current weight capacity, source, and destination. Each container is in a different size and can hold multiple orders.</a:t>
            </a:r>
          </a:p>
          <a:p>
            <a:pPr>
              <a:lnSpc>
                <a:spcPct val="100000"/>
              </a:lnSpc>
              <a:spcAft>
                <a:spcPts val="800"/>
              </a:spcAft>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Goods – This holds each goods id, its name, weight, unit, category, and supplier.</a:t>
            </a:r>
          </a:p>
          <a:p>
            <a:pPr>
              <a:lnSpc>
                <a:spcPct val="100000"/>
              </a:lnSpc>
              <a:spcAft>
                <a:spcPts val="800"/>
              </a:spcAft>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Orders – This stores each order between a customer and a supplier. It has a unique ID, customer’s id, supplier’s id, and the amount bought.</a:t>
            </a:r>
          </a:p>
          <a:p>
            <a:pPr>
              <a:lnSpc>
                <a:spcPct val="100000"/>
              </a:lnSpc>
              <a:spcAft>
                <a:spcPts val="800"/>
              </a:spcAft>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Customers – Each customer has a name, address, and ID. Customers can make multiple orders from different suppliers with different goods.</a:t>
            </a:r>
          </a:p>
          <a:p>
            <a:pPr>
              <a:lnSpc>
                <a:spcPct val="100000"/>
              </a:lnSpc>
              <a:spcAft>
                <a:spcPts val="800"/>
              </a:spcAft>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Suppliers – Each supplier has a name, address, and ID. Each supplier has one good that he produces and sells.</a:t>
            </a:r>
          </a:p>
        </p:txBody>
      </p:sp>
      <p:pic>
        <p:nvPicPr>
          <p:cNvPr id="4" name="Picture 6" descr="Cargo Ship Vector Art, Icons, and Graphics for Free Download">
            <a:extLst>
              <a:ext uri="{FF2B5EF4-FFF2-40B4-BE49-F238E27FC236}">
                <a16:creationId xmlns:a16="http://schemas.microsoft.com/office/drawing/2014/main" id="{BB3ED8C3-8226-CF62-40CE-8E1EB2844D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7127" y="810130"/>
            <a:ext cx="1772816" cy="1212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615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C1338B0-5B48-80F2-FF73-098D5B019F50}"/>
              </a:ext>
            </a:extLst>
          </p:cNvPr>
          <p:cNvPicPr>
            <a:picLocks noGrp="1" noChangeAspect="1"/>
          </p:cNvPicPr>
          <p:nvPr>
            <p:ph idx="1"/>
          </p:nvPr>
        </p:nvPicPr>
        <p:blipFill rotWithShape="1">
          <a:blip r:embed="rId2"/>
          <a:srcRect l="854" t="3211" r="7741"/>
          <a:stretch/>
        </p:blipFill>
        <p:spPr>
          <a:xfrm>
            <a:off x="2778966" y="0"/>
            <a:ext cx="6634067" cy="6857239"/>
          </a:xfrm>
        </p:spPr>
      </p:pic>
      <p:sp>
        <p:nvSpPr>
          <p:cNvPr id="6" name="Title 1">
            <a:extLst>
              <a:ext uri="{FF2B5EF4-FFF2-40B4-BE49-F238E27FC236}">
                <a16:creationId xmlns:a16="http://schemas.microsoft.com/office/drawing/2014/main" id="{8A0A8BA7-E8C3-76B6-22A7-E9290890AC88}"/>
              </a:ext>
            </a:extLst>
          </p:cNvPr>
          <p:cNvSpPr>
            <a:spLocks noGrp="1"/>
          </p:cNvSpPr>
          <p:nvPr>
            <p:ph type="title"/>
          </p:nvPr>
        </p:nvSpPr>
        <p:spPr>
          <a:xfrm>
            <a:off x="727163" y="105333"/>
            <a:ext cx="1428209" cy="1596177"/>
          </a:xfrm>
        </p:spPr>
        <p:txBody>
          <a:bodyPr>
            <a:normAutofit/>
          </a:bodyPr>
          <a:lstStyle/>
          <a:p>
            <a:r>
              <a:rPr lang="en-US" sz="6000" dirty="0"/>
              <a:t>ERD</a:t>
            </a:r>
            <a:endParaRPr lang="LID4096" dirty="0"/>
          </a:p>
        </p:txBody>
      </p:sp>
    </p:spTree>
    <p:extLst>
      <p:ext uri="{BB962C8B-B14F-4D97-AF65-F5344CB8AC3E}">
        <p14:creationId xmlns:p14="http://schemas.microsoft.com/office/powerpoint/2010/main" val="4006980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A0A8BA7-E8C3-76B6-22A7-E9290890AC88}"/>
              </a:ext>
            </a:extLst>
          </p:cNvPr>
          <p:cNvSpPr>
            <a:spLocks noGrp="1"/>
          </p:cNvSpPr>
          <p:nvPr>
            <p:ph type="title"/>
          </p:nvPr>
        </p:nvSpPr>
        <p:spPr>
          <a:xfrm>
            <a:off x="229452" y="0"/>
            <a:ext cx="4666639" cy="1446835"/>
          </a:xfrm>
        </p:spPr>
        <p:txBody>
          <a:bodyPr>
            <a:normAutofit/>
          </a:bodyPr>
          <a:lstStyle/>
          <a:p>
            <a:r>
              <a:rPr lang="en-US" sz="6000" dirty="0"/>
              <a:t>Physical ERD</a:t>
            </a:r>
            <a:endParaRPr lang="LID4096" dirty="0"/>
          </a:p>
        </p:txBody>
      </p:sp>
      <p:pic>
        <p:nvPicPr>
          <p:cNvPr id="11" name="Content Placeholder 10" descr="A picture containing text, diagram, screenshot, parallel&#10;&#10;Description automatically generated">
            <a:extLst>
              <a:ext uri="{FF2B5EF4-FFF2-40B4-BE49-F238E27FC236}">
                <a16:creationId xmlns:a16="http://schemas.microsoft.com/office/drawing/2014/main" id="{29D40CA7-B4E8-2C21-21BC-2A949495FD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62580" y="156318"/>
            <a:ext cx="3619374" cy="6546809"/>
          </a:xfrm>
        </p:spPr>
      </p:pic>
    </p:spTree>
    <p:extLst>
      <p:ext uri="{BB962C8B-B14F-4D97-AF65-F5344CB8AC3E}">
        <p14:creationId xmlns:p14="http://schemas.microsoft.com/office/powerpoint/2010/main" val="1373207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DEE7-6C2E-102F-22C7-368A9DFFCBE7}"/>
              </a:ext>
            </a:extLst>
          </p:cNvPr>
          <p:cNvSpPr>
            <a:spLocks noGrp="1"/>
          </p:cNvSpPr>
          <p:nvPr>
            <p:ph type="title"/>
          </p:nvPr>
        </p:nvSpPr>
        <p:spPr/>
        <p:txBody>
          <a:bodyPr/>
          <a:lstStyle/>
          <a:p>
            <a:r>
              <a:rPr lang="en-US" sz="4800" cap="none" dirty="0"/>
              <a:t>Triggers</a:t>
            </a:r>
            <a:endParaRPr lang="LID4096" dirty="0"/>
          </a:p>
        </p:txBody>
      </p:sp>
      <p:pic>
        <p:nvPicPr>
          <p:cNvPr id="5" name="מציין מיקום תוכן 4" descr="תמונה שמכילה טקסט, צילום מסך, גופן, מספר&#10;&#10;התיאור נוצר באופן אוטומטי">
            <a:extLst>
              <a:ext uri="{FF2B5EF4-FFF2-40B4-BE49-F238E27FC236}">
                <a16:creationId xmlns:a16="http://schemas.microsoft.com/office/drawing/2014/main" id="{A67F0982-83FD-CE2E-21C4-95BB09CC5D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7685" y="1928858"/>
            <a:ext cx="6576630" cy="2613887"/>
          </a:xfrm>
        </p:spPr>
      </p:pic>
      <p:pic>
        <p:nvPicPr>
          <p:cNvPr id="7" name="תמונה 6" descr="תמונה שמכילה טקסט, צילום מסך, גופן, מספר&#10;&#10;התיאור נוצר באופן אוטומטי">
            <a:extLst>
              <a:ext uri="{FF2B5EF4-FFF2-40B4-BE49-F238E27FC236}">
                <a16:creationId xmlns:a16="http://schemas.microsoft.com/office/drawing/2014/main" id="{7F6DD5FC-DCF0-017D-7FEE-835DCF5239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359" y="5272061"/>
            <a:ext cx="4438650" cy="1162050"/>
          </a:xfrm>
          <a:prstGeom prst="rect">
            <a:avLst/>
          </a:prstGeom>
        </p:spPr>
      </p:pic>
      <p:sp>
        <p:nvSpPr>
          <p:cNvPr id="8" name="Content Placeholder 2">
            <a:extLst>
              <a:ext uri="{FF2B5EF4-FFF2-40B4-BE49-F238E27FC236}">
                <a16:creationId xmlns:a16="http://schemas.microsoft.com/office/drawing/2014/main" id="{9E76859D-A2F9-047C-6620-3E88D63C00B2}"/>
              </a:ext>
            </a:extLst>
          </p:cNvPr>
          <p:cNvSpPr txBox="1">
            <a:spLocks/>
          </p:cNvSpPr>
          <p:nvPr/>
        </p:nvSpPr>
        <p:spPr>
          <a:xfrm>
            <a:off x="2395892" y="4847545"/>
            <a:ext cx="823585" cy="42451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lnSpc>
                <a:spcPct val="100000"/>
              </a:lnSpc>
              <a:spcAft>
                <a:spcPts val="800"/>
              </a:spcAft>
              <a:buNone/>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before</a:t>
            </a:r>
          </a:p>
        </p:txBody>
      </p:sp>
      <p:pic>
        <p:nvPicPr>
          <p:cNvPr id="10" name="תמונה 9" descr="תמונה שמכילה טקסט, צילום מסך, גופן, מספר&#10;&#10;התיאור נוצר באופן אוטומטי">
            <a:extLst>
              <a:ext uri="{FF2B5EF4-FFF2-40B4-BE49-F238E27FC236}">
                <a16:creationId xmlns:a16="http://schemas.microsoft.com/office/drawing/2014/main" id="{DF66F79F-E62E-C9D5-013E-5E8B6DAB4D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4542" y="5248248"/>
            <a:ext cx="4524375" cy="1209675"/>
          </a:xfrm>
          <a:prstGeom prst="rect">
            <a:avLst/>
          </a:prstGeom>
        </p:spPr>
      </p:pic>
      <p:sp>
        <p:nvSpPr>
          <p:cNvPr id="11" name="Content Placeholder 2">
            <a:extLst>
              <a:ext uri="{FF2B5EF4-FFF2-40B4-BE49-F238E27FC236}">
                <a16:creationId xmlns:a16="http://schemas.microsoft.com/office/drawing/2014/main" id="{389749A1-2D99-5EFE-2803-DABAAEADBF82}"/>
              </a:ext>
            </a:extLst>
          </p:cNvPr>
          <p:cNvSpPr txBox="1">
            <a:spLocks/>
          </p:cNvSpPr>
          <p:nvPr/>
        </p:nvSpPr>
        <p:spPr>
          <a:xfrm>
            <a:off x="8684936" y="4847545"/>
            <a:ext cx="823585" cy="42451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lnSpc>
                <a:spcPct val="100000"/>
              </a:lnSpc>
              <a:spcAft>
                <a:spcPts val="800"/>
              </a:spcAft>
              <a:buNone/>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after</a:t>
            </a:r>
          </a:p>
        </p:txBody>
      </p:sp>
    </p:spTree>
    <p:extLst>
      <p:ext uri="{BB962C8B-B14F-4D97-AF65-F5344CB8AC3E}">
        <p14:creationId xmlns:p14="http://schemas.microsoft.com/office/powerpoint/2010/main" val="3757702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descr="תמונה שמכילה טקסט, צילום מסך, גופן&#10;&#10;התיאור נוצר באופן אוטומטי">
            <a:extLst>
              <a:ext uri="{FF2B5EF4-FFF2-40B4-BE49-F238E27FC236}">
                <a16:creationId xmlns:a16="http://schemas.microsoft.com/office/drawing/2014/main" id="{7C12229B-F7F4-2767-F1E4-07E5793FE0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8421" y="147003"/>
            <a:ext cx="7815157" cy="3424237"/>
          </a:xfrm>
        </p:spPr>
      </p:pic>
      <p:pic>
        <p:nvPicPr>
          <p:cNvPr id="7" name="תמונה 6" descr="תמונה שמכילה טקסט, צילום מסך, גופן&#10;&#10;התיאור נוצר באופן אוטומטי">
            <a:extLst>
              <a:ext uri="{FF2B5EF4-FFF2-40B4-BE49-F238E27FC236}">
                <a16:creationId xmlns:a16="http://schemas.microsoft.com/office/drawing/2014/main" id="{B76C9339-5B71-A1CF-BF64-772D8ACE12CF}"/>
              </a:ext>
            </a:extLst>
          </p:cNvPr>
          <p:cNvPicPr>
            <a:picLocks noChangeAspect="1"/>
          </p:cNvPicPr>
          <p:nvPr/>
        </p:nvPicPr>
        <p:blipFill rotWithShape="1">
          <a:blip r:embed="rId3">
            <a:extLst>
              <a:ext uri="{28A0092B-C50C-407E-A947-70E740481C1C}">
                <a14:useLocalDpi xmlns:a14="http://schemas.microsoft.com/office/drawing/2010/main" val="0"/>
              </a:ext>
            </a:extLst>
          </a:blip>
          <a:srcRect t="31515"/>
          <a:stretch/>
        </p:blipFill>
        <p:spPr>
          <a:xfrm>
            <a:off x="2188422" y="3571240"/>
            <a:ext cx="7815156" cy="1638770"/>
          </a:xfrm>
          <a:prstGeom prst="rect">
            <a:avLst/>
          </a:prstGeom>
        </p:spPr>
      </p:pic>
      <p:sp>
        <p:nvSpPr>
          <p:cNvPr id="11" name="Content Placeholder 2">
            <a:extLst>
              <a:ext uri="{FF2B5EF4-FFF2-40B4-BE49-F238E27FC236}">
                <a16:creationId xmlns:a16="http://schemas.microsoft.com/office/drawing/2014/main" id="{482C2FC7-D15F-B4E2-9285-7674DF653D93}"/>
              </a:ext>
            </a:extLst>
          </p:cNvPr>
          <p:cNvSpPr txBox="1">
            <a:spLocks/>
          </p:cNvSpPr>
          <p:nvPr/>
        </p:nvSpPr>
        <p:spPr>
          <a:xfrm>
            <a:off x="2807683" y="5173363"/>
            <a:ext cx="823585" cy="42451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lnSpc>
                <a:spcPct val="100000"/>
              </a:lnSpc>
              <a:spcAft>
                <a:spcPts val="800"/>
              </a:spcAft>
              <a:buNone/>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before</a:t>
            </a:r>
          </a:p>
        </p:txBody>
      </p:sp>
      <p:sp>
        <p:nvSpPr>
          <p:cNvPr id="13" name="Content Placeholder 2">
            <a:extLst>
              <a:ext uri="{FF2B5EF4-FFF2-40B4-BE49-F238E27FC236}">
                <a16:creationId xmlns:a16="http://schemas.microsoft.com/office/drawing/2014/main" id="{07847392-6970-01B7-A3EC-0751DED612DD}"/>
              </a:ext>
            </a:extLst>
          </p:cNvPr>
          <p:cNvSpPr txBox="1">
            <a:spLocks/>
          </p:cNvSpPr>
          <p:nvPr/>
        </p:nvSpPr>
        <p:spPr>
          <a:xfrm>
            <a:off x="8684936" y="5173363"/>
            <a:ext cx="823585" cy="42451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lnSpc>
                <a:spcPct val="100000"/>
              </a:lnSpc>
              <a:spcAft>
                <a:spcPts val="800"/>
              </a:spcAft>
              <a:buNone/>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after</a:t>
            </a:r>
          </a:p>
        </p:txBody>
      </p:sp>
      <p:pic>
        <p:nvPicPr>
          <p:cNvPr id="15" name="תמונה 14" descr="תמונה שמכילה טקסט, צילום מסך, גופן, מספר&#10;&#10;התיאור נוצר באופן אוטומטי">
            <a:extLst>
              <a:ext uri="{FF2B5EF4-FFF2-40B4-BE49-F238E27FC236}">
                <a16:creationId xmlns:a16="http://schemas.microsoft.com/office/drawing/2014/main" id="{6A8EBFAB-5779-D3E1-C5EB-30F19E429D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182" y="5597879"/>
            <a:ext cx="5326586" cy="1149762"/>
          </a:xfrm>
          <a:prstGeom prst="rect">
            <a:avLst/>
          </a:prstGeom>
        </p:spPr>
      </p:pic>
      <p:pic>
        <p:nvPicPr>
          <p:cNvPr id="17" name="תמונה 16" descr="תמונה שמכילה טקסט, צילום מסך, גופן, קו&#10;&#10;התיאור נוצר באופן אוטומטי">
            <a:extLst>
              <a:ext uri="{FF2B5EF4-FFF2-40B4-BE49-F238E27FC236}">
                <a16:creationId xmlns:a16="http://schemas.microsoft.com/office/drawing/2014/main" id="{F4E50DB5-E317-936C-435F-99567BC2CC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3435" y="5597879"/>
            <a:ext cx="5326586" cy="1149762"/>
          </a:xfrm>
          <a:prstGeom prst="rect">
            <a:avLst/>
          </a:prstGeom>
        </p:spPr>
      </p:pic>
    </p:spTree>
    <p:extLst>
      <p:ext uri="{BB962C8B-B14F-4D97-AF65-F5344CB8AC3E}">
        <p14:creationId xmlns:p14="http://schemas.microsoft.com/office/powerpoint/2010/main" val="1714912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E09F1-1256-E13A-8FB4-0DE5C9A1459D}"/>
              </a:ext>
            </a:extLst>
          </p:cNvPr>
          <p:cNvSpPr>
            <a:spLocks noGrp="1"/>
          </p:cNvSpPr>
          <p:nvPr>
            <p:ph type="title"/>
          </p:nvPr>
        </p:nvSpPr>
        <p:spPr/>
        <p:txBody>
          <a:bodyPr/>
          <a:lstStyle/>
          <a:p>
            <a:r>
              <a:rPr lang="en-US" sz="4800" cap="none" dirty="0"/>
              <a:t>Functions</a:t>
            </a:r>
            <a:endParaRPr lang="LID4096" dirty="0"/>
          </a:p>
        </p:txBody>
      </p:sp>
      <p:pic>
        <p:nvPicPr>
          <p:cNvPr id="5" name="מציין מיקום תוכן 4" descr="תמונה שמכילה טקסט, צילום מסך&#10;&#10;התיאור נוצר באופן אוטומטי">
            <a:extLst>
              <a:ext uri="{FF2B5EF4-FFF2-40B4-BE49-F238E27FC236}">
                <a16:creationId xmlns:a16="http://schemas.microsoft.com/office/drawing/2014/main" id="{F9222BF8-2A73-CE0D-A03C-89B308E0A3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51236" y="1716881"/>
            <a:ext cx="6489527" cy="3424237"/>
          </a:xfrm>
        </p:spPr>
      </p:pic>
      <p:pic>
        <p:nvPicPr>
          <p:cNvPr id="7" name="תמונה 6" descr="תמונה שמכילה טקסט, גופן, צילום מסך, לבן&#10;&#10;התיאור נוצר באופן אוטומטי">
            <a:extLst>
              <a:ext uri="{FF2B5EF4-FFF2-40B4-BE49-F238E27FC236}">
                <a16:creationId xmlns:a16="http://schemas.microsoft.com/office/drawing/2014/main" id="{25F0100E-4346-DC4B-B7B1-4ED14E6B66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5798" y="5494655"/>
            <a:ext cx="3190875" cy="1009650"/>
          </a:xfrm>
          <a:prstGeom prst="rect">
            <a:avLst/>
          </a:prstGeom>
        </p:spPr>
      </p:pic>
      <p:pic>
        <p:nvPicPr>
          <p:cNvPr id="9" name="תמונה 8" descr="תמונה שמכילה טקסט, צילום מסך, גופן, מספר&#10;&#10;התיאור נוצר באופן אוטומטי">
            <a:extLst>
              <a:ext uri="{FF2B5EF4-FFF2-40B4-BE49-F238E27FC236}">
                <a16:creationId xmlns:a16="http://schemas.microsoft.com/office/drawing/2014/main" id="{A8C61D1E-400E-D25E-4987-27E21DCAF9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5329" y="5466080"/>
            <a:ext cx="3409950" cy="1066800"/>
          </a:xfrm>
          <a:prstGeom prst="rect">
            <a:avLst/>
          </a:prstGeom>
        </p:spPr>
      </p:pic>
    </p:spTree>
    <p:extLst>
      <p:ext uri="{BB962C8B-B14F-4D97-AF65-F5344CB8AC3E}">
        <p14:creationId xmlns:p14="http://schemas.microsoft.com/office/powerpoint/2010/main" val="164935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965F0-21C3-3A46-0A13-D40788A8895B}"/>
              </a:ext>
            </a:extLst>
          </p:cNvPr>
          <p:cNvSpPr>
            <a:spLocks noGrp="1"/>
          </p:cNvSpPr>
          <p:nvPr>
            <p:ph type="title"/>
          </p:nvPr>
        </p:nvSpPr>
        <p:spPr/>
        <p:txBody>
          <a:bodyPr/>
          <a:lstStyle/>
          <a:p>
            <a:r>
              <a:rPr lang="en-US" sz="4800" cap="none" dirty="0"/>
              <a:t>Functions</a:t>
            </a:r>
            <a:endParaRPr lang="LID4096" dirty="0"/>
          </a:p>
        </p:txBody>
      </p:sp>
      <p:pic>
        <p:nvPicPr>
          <p:cNvPr id="5" name="מציין מיקום תוכן 4" descr="תמונה שמכילה טקסט, צילום מסך, גופן&#10;&#10;התיאור נוצר באופן אוטומטי">
            <a:extLst>
              <a:ext uri="{FF2B5EF4-FFF2-40B4-BE49-F238E27FC236}">
                <a16:creationId xmlns:a16="http://schemas.microsoft.com/office/drawing/2014/main" id="{A8EF3BE3-633B-268F-E958-1A1318FE2D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8464" y="1716881"/>
            <a:ext cx="7655072" cy="3424237"/>
          </a:xfrm>
        </p:spPr>
      </p:pic>
      <p:pic>
        <p:nvPicPr>
          <p:cNvPr id="7" name="תמונה 6" descr="תמונה שמכילה טקסט, גופן, צילום מסך, לבן&#10;&#10;התיאור נוצר באופן אוטומטי">
            <a:extLst>
              <a:ext uri="{FF2B5EF4-FFF2-40B4-BE49-F238E27FC236}">
                <a16:creationId xmlns:a16="http://schemas.microsoft.com/office/drawing/2014/main" id="{17B6DAC4-CF65-117D-EBFC-0102796B51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4921" y="6043244"/>
            <a:ext cx="2782157" cy="804596"/>
          </a:xfrm>
          <a:prstGeom prst="rect">
            <a:avLst/>
          </a:prstGeom>
        </p:spPr>
      </p:pic>
      <p:pic>
        <p:nvPicPr>
          <p:cNvPr id="9" name="תמונה 8">
            <a:extLst>
              <a:ext uri="{FF2B5EF4-FFF2-40B4-BE49-F238E27FC236}">
                <a16:creationId xmlns:a16="http://schemas.microsoft.com/office/drawing/2014/main" id="{17BC5E15-039C-F1A2-1C93-DBD9D8CC9B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194963"/>
            <a:ext cx="12192000" cy="804596"/>
          </a:xfrm>
          <a:prstGeom prst="rect">
            <a:avLst/>
          </a:prstGeom>
        </p:spPr>
      </p:pic>
    </p:spTree>
    <p:extLst>
      <p:ext uri="{BB962C8B-B14F-4D97-AF65-F5344CB8AC3E}">
        <p14:creationId xmlns:p14="http://schemas.microsoft.com/office/powerpoint/2010/main" val="2872871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48E4E-CF6E-36A0-56ED-17403D16B8B2}"/>
              </a:ext>
            </a:extLst>
          </p:cNvPr>
          <p:cNvSpPr>
            <a:spLocks noGrp="1"/>
          </p:cNvSpPr>
          <p:nvPr>
            <p:ph type="title"/>
          </p:nvPr>
        </p:nvSpPr>
        <p:spPr/>
        <p:txBody>
          <a:bodyPr/>
          <a:lstStyle/>
          <a:p>
            <a:r>
              <a:rPr lang="en-US" sz="4800" cap="none" dirty="0"/>
              <a:t>Procedures</a:t>
            </a:r>
            <a:endParaRPr lang="LID4096" dirty="0"/>
          </a:p>
        </p:txBody>
      </p:sp>
      <p:pic>
        <p:nvPicPr>
          <p:cNvPr id="5" name="מציין מיקום תוכן 4" descr="תמונה שמכילה טקסט, צילום מסך, גופן&#10;&#10;התיאור נוצר באופן אוטומטי">
            <a:extLst>
              <a:ext uri="{FF2B5EF4-FFF2-40B4-BE49-F238E27FC236}">
                <a16:creationId xmlns:a16="http://schemas.microsoft.com/office/drawing/2014/main" id="{13170DCF-6343-CC70-E74D-ED00D8DC26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56203" y="2214694"/>
            <a:ext cx="7079593" cy="1813717"/>
          </a:xfrm>
        </p:spPr>
      </p:pic>
      <p:pic>
        <p:nvPicPr>
          <p:cNvPr id="7" name="תמונה 6" descr="תמונה שמכילה טקסט, צילום מסך, גופן, קו&#10;&#10;התיאור נוצר באופן אוטומטי">
            <a:extLst>
              <a:ext uri="{FF2B5EF4-FFF2-40B4-BE49-F238E27FC236}">
                <a16:creationId xmlns:a16="http://schemas.microsoft.com/office/drawing/2014/main" id="{A96B753C-A3D6-A725-C787-1675BB69A1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6674" y="4672088"/>
            <a:ext cx="4438650" cy="952500"/>
          </a:xfrm>
          <a:prstGeom prst="rect">
            <a:avLst/>
          </a:prstGeom>
        </p:spPr>
      </p:pic>
    </p:spTree>
    <p:extLst>
      <p:ext uri="{BB962C8B-B14F-4D97-AF65-F5344CB8AC3E}">
        <p14:creationId xmlns:p14="http://schemas.microsoft.com/office/powerpoint/2010/main" val="4044352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descr="תמונה שמכילה טקסט, צילום מסך&#10;&#10;התיאור נוצר באופן אוטומטי">
            <a:extLst>
              <a:ext uri="{FF2B5EF4-FFF2-40B4-BE49-F238E27FC236}">
                <a16:creationId xmlns:a16="http://schemas.microsoft.com/office/drawing/2014/main" id="{4F86C021-3986-F4D2-4823-E87BC96F98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1309" y="0"/>
            <a:ext cx="8329382" cy="3738880"/>
          </a:xfrm>
          <a:prstGeom prst="rect">
            <a:avLst/>
          </a:prstGeom>
        </p:spPr>
      </p:pic>
      <p:pic>
        <p:nvPicPr>
          <p:cNvPr id="9" name="תמונה 8" descr="תמונה שמכילה טקסט, צילום מסך, גופן&#10;&#10;התיאור נוצר באופן אוטומטי">
            <a:extLst>
              <a:ext uri="{FF2B5EF4-FFF2-40B4-BE49-F238E27FC236}">
                <a16:creationId xmlns:a16="http://schemas.microsoft.com/office/drawing/2014/main" id="{C0CAB4BC-8A12-5889-AFB0-643B3398D1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1309" y="3738880"/>
            <a:ext cx="8329381" cy="3119120"/>
          </a:xfrm>
          <a:prstGeom prst="rect">
            <a:avLst/>
          </a:prstGeom>
        </p:spPr>
      </p:pic>
      <p:pic>
        <p:nvPicPr>
          <p:cNvPr id="11" name="תמונה 10">
            <a:extLst>
              <a:ext uri="{FF2B5EF4-FFF2-40B4-BE49-F238E27FC236}">
                <a16:creationId xmlns:a16="http://schemas.microsoft.com/office/drawing/2014/main" id="{64B2772E-DB71-4F1E-1157-235127958239}"/>
              </a:ext>
            </a:extLst>
          </p:cNvPr>
          <p:cNvPicPr>
            <a:picLocks noChangeAspect="1"/>
          </p:cNvPicPr>
          <p:nvPr/>
        </p:nvPicPr>
        <p:blipFill rotWithShape="1">
          <a:blip r:embed="rId4">
            <a:extLst>
              <a:ext uri="{28A0092B-C50C-407E-A947-70E740481C1C}">
                <a14:useLocalDpi xmlns:a14="http://schemas.microsoft.com/office/drawing/2010/main" val="0"/>
              </a:ext>
            </a:extLst>
          </a:blip>
          <a:srcRect l="59091" t="-213" r="1" b="-1"/>
          <a:stretch/>
        </p:blipFill>
        <p:spPr>
          <a:xfrm>
            <a:off x="10210800" y="4991100"/>
            <a:ext cx="1507067" cy="281940"/>
          </a:xfrm>
          <a:prstGeom prst="rect">
            <a:avLst/>
          </a:prstGeom>
        </p:spPr>
      </p:pic>
    </p:spTree>
    <p:extLst>
      <p:ext uri="{BB962C8B-B14F-4D97-AF65-F5344CB8AC3E}">
        <p14:creationId xmlns:p14="http://schemas.microsoft.com/office/powerpoint/2010/main" val="2892737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descr="תמונה שמכילה טקסט, צילום מסך, גופן, מספר&#10;&#10;התיאור נוצר באופן אוטומטי">
            <a:extLst>
              <a:ext uri="{FF2B5EF4-FFF2-40B4-BE49-F238E27FC236}">
                <a16:creationId xmlns:a16="http://schemas.microsoft.com/office/drawing/2014/main" id="{6F49C358-A427-D330-3CA6-19158A552B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190" y="1065848"/>
            <a:ext cx="3543300" cy="1190624"/>
          </a:xfrm>
          <a:prstGeom prst="rect">
            <a:avLst/>
          </a:prstGeom>
        </p:spPr>
      </p:pic>
      <p:pic>
        <p:nvPicPr>
          <p:cNvPr id="7" name="תמונה 6" descr="תמונה שמכילה טקסט, צילום מסך, גופן, מספר&#10;&#10;התיאור נוצר באופן אוטומטי">
            <a:extLst>
              <a:ext uri="{FF2B5EF4-FFF2-40B4-BE49-F238E27FC236}">
                <a16:creationId xmlns:a16="http://schemas.microsoft.com/office/drawing/2014/main" id="{0611CA88-128D-2C12-00E4-4D28C3BD4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9640" y="1065847"/>
            <a:ext cx="3524250" cy="1190625"/>
          </a:xfrm>
          <a:prstGeom prst="rect">
            <a:avLst/>
          </a:prstGeom>
        </p:spPr>
      </p:pic>
      <p:sp>
        <p:nvSpPr>
          <p:cNvPr id="8" name="Content Placeholder 2">
            <a:extLst>
              <a:ext uri="{FF2B5EF4-FFF2-40B4-BE49-F238E27FC236}">
                <a16:creationId xmlns:a16="http://schemas.microsoft.com/office/drawing/2014/main" id="{666DDCE7-C694-69BD-A275-16CBC8181A14}"/>
              </a:ext>
            </a:extLst>
          </p:cNvPr>
          <p:cNvSpPr txBox="1">
            <a:spLocks/>
          </p:cNvSpPr>
          <p:nvPr/>
        </p:nvSpPr>
        <p:spPr>
          <a:xfrm>
            <a:off x="2626047" y="641331"/>
            <a:ext cx="823585" cy="42451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lnSpc>
                <a:spcPct val="100000"/>
              </a:lnSpc>
              <a:spcAft>
                <a:spcPts val="800"/>
              </a:spcAft>
              <a:buNone/>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before</a:t>
            </a:r>
          </a:p>
        </p:txBody>
      </p:sp>
      <p:sp>
        <p:nvSpPr>
          <p:cNvPr id="9" name="Content Placeholder 2">
            <a:extLst>
              <a:ext uri="{FF2B5EF4-FFF2-40B4-BE49-F238E27FC236}">
                <a16:creationId xmlns:a16="http://schemas.microsoft.com/office/drawing/2014/main" id="{D7D6514F-27E4-66BF-F575-E23CD3663D23}"/>
              </a:ext>
            </a:extLst>
          </p:cNvPr>
          <p:cNvSpPr txBox="1">
            <a:spLocks/>
          </p:cNvSpPr>
          <p:nvPr/>
        </p:nvSpPr>
        <p:spPr>
          <a:xfrm>
            <a:off x="8629972" y="641331"/>
            <a:ext cx="823585" cy="42451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lnSpc>
                <a:spcPct val="100000"/>
              </a:lnSpc>
              <a:spcAft>
                <a:spcPts val="800"/>
              </a:spcAft>
              <a:buNone/>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after</a:t>
            </a:r>
          </a:p>
        </p:txBody>
      </p:sp>
      <p:sp>
        <p:nvSpPr>
          <p:cNvPr id="12" name="Content Placeholder 2">
            <a:extLst>
              <a:ext uri="{FF2B5EF4-FFF2-40B4-BE49-F238E27FC236}">
                <a16:creationId xmlns:a16="http://schemas.microsoft.com/office/drawing/2014/main" id="{9E27BC18-BCA7-CCBD-3F9C-F065F37B56FA}"/>
              </a:ext>
            </a:extLst>
          </p:cNvPr>
          <p:cNvSpPr txBox="1">
            <a:spLocks/>
          </p:cNvSpPr>
          <p:nvPr/>
        </p:nvSpPr>
        <p:spPr>
          <a:xfrm>
            <a:off x="2626047" y="3821411"/>
            <a:ext cx="823585" cy="42451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lnSpc>
                <a:spcPct val="100000"/>
              </a:lnSpc>
              <a:spcAft>
                <a:spcPts val="800"/>
              </a:spcAft>
              <a:buNone/>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before</a:t>
            </a:r>
          </a:p>
        </p:txBody>
      </p:sp>
      <p:sp>
        <p:nvSpPr>
          <p:cNvPr id="13" name="Content Placeholder 2">
            <a:extLst>
              <a:ext uri="{FF2B5EF4-FFF2-40B4-BE49-F238E27FC236}">
                <a16:creationId xmlns:a16="http://schemas.microsoft.com/office/drawing/2014/main" id="{F991E987-126C-F01B-19A1-35863CC5A2B5}"/>
              </a:ext>
            </a:extLst>
          </p:cNvPr>
          <p:cNvSpPr txBox="1">
            <a:spLocks/>
          </p:cNvSpPr>
          <p:nvPr/>
        </p:nvSpPr>
        <p:spPr>
          <a:xfrm>
            <a:off x="8629972" y="3821411"/>
            <a:ext cx="823585" cy="42451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lnSpc>
                <a:spcPct val="100000"/>
              </a:lnSpc>
              <a:spcAft>
                <a:spcPts val="800"/>
              </a:spcAft>
              <a:buNone/>
            </a:pPr>
            <a:r>
              <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after</a:t>
            </a:r>
          </a:p>
        </p:txBody>
      </p:sp>
      <p:sp>
        <p:nvSpPr>
          <p:cNvPr id="14" name="Content Placeholder 2">
            <a:extLst>
              <a:ext uri="{FF2B5EF4-FFF2-40B4-BE49-F238E27FC236}">
                <a16:creationId xmlns:a16="http://schemas.microsoft.com/office/drawing/2014/main" id="{990BEAAC-24CB-602D-80E0-4E3FE8729F1D}"/>
              </a:ext>
            </a:extLst>
          </p:cNvPr>
          <p:cNvSpPr txBox="1">
            <a:spLocks/>
          </p:cNvSpPr>
          <p:nvPr/>
        </p:nvSpPr>
        <p:spPr>
          <a:xfrm>
            <a:off x="5002452" y="3216742"/>
            <a:ext cx="2187096" cy="42451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lnSpc>
                <a:spcPct val="100000"/>
              </a:lnSpc>
              <a:spcAft>
                <a:spcPts val="800"/>
              </a:spcAft>
              <a:buNone/>
            </a:pPr>
            <a:r>
              <a:rPr lang="en-US" sz="3200" kern="100" cap="none" dirty="0">
                <a:solidFill>
                  <a:schemeClr val="bg1"/>
                </a:solidFill>
                <a:latin typeface="Abadi" panose="020B0604020104020204" pitchFamily="34" charset="0"/>
                <a:ea typeface="Calibri" panose="020F0502020204030204" pitchFamily="34" charset="0"/>
                <a:cs typeface="Arial" panose="020B0604020202020204" pitchFamily="34" charset="0"/>
              </a:rPr>
              <a:t>containers</a:t>
            </a:r>
            <a:endParaRPr lang="en-US" sz="1800" kern="100" cap="none" dirty="0">
              <a:solidFill>
                <a:schemeClr val="bg1"/>
              </a:solidFill>
              <a:latin typeface="Abadi" panose="020B0604020104020204" pitchFamily="34" charset="0"/>
              <a:ea typeface="Calibri" panose="020F0502020204030204" pitchFamily="34" charset="0"/>
              <a:cs typeface="Arial" panose="020B0604020202020204" pitchFamily="34" charset="0"/>
            </a:endParaRPr>
          </a:p>
        </p:txBody>
      </p:sp>
      <p:pic>
        <p:nvPicPr>
          <p:cNvPr id="16" name="תמונה 15" descr="תמונה שמכילה טקסט, צילום מסך, גופן, מספר&#10;&#10;התיאור נוצר באופן אוטומטי">
            <a:extLst>
              <a:ext uri="{FF2B5EF4-FFF2-40B4-BE49-F238E27FC236}">
                <a16:creationId xmlns:a16="http://schemas.microsoft.com/office/drawing/2014/main" id="{39B74DE2-C6BA-704D-9A22-A17482E7BD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427" y="4245926"/>
            <a:ext cx="5300824" cy="1210156"/>
          </a:xfrm>
          <a:prstGeom prst="rect">
            <a:avLst/>
          </a:prstGeom>
        </p:spPr>
      </p:pic>
      <p:pic>
        <p:nvPicPr>
          <p:cNvPr id="18" name="תמונה 17" descr="תמונה שמכילה טקסט, צילום מסך, גופן, מספר&#10;&#10;התיאור נוצר באופן אוטומטי">
            <a:extLst>
              <a:ext uri="{FF2B5EF4-FFF2-40B4-BE49-F238E27FC236}">
                <a16:creationId xmlns:a16="http://schemas.microsoft.com/office/drawing/2014/main" id="{F0DA7D00-589B-6FF3-E244-13E08E426A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1352" y="4245926"/>
            <a:ext cx="5300824" cy="1210156"/>
          </a:xfrm>
          <a:prstGeom prst="rect">
            <a:avLst/>
          </a:prstGeom>
        </p:spPr>
      </p:pic>
    </p:spTree>
    <p:extLst>
      <p:ext uri="{BB962C8B-B14F-4D97-AF65-F5344CB8AC3E}">
        <p14:creationId xmlns:p14="http://schemas.microsoft.com/office/powerpoint/2010/main" val="3120258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7E21-D6DC-1B95-EE3A-973D941DB574}"/>
              </a:ext>
            </a:extLst>
          </p:cNvPr>
          <p:cNvSpPr>
            <a:spLocks noGrp="1"/>
          </p:cNvSpPr>
          <p:nvPr>
            <p:ph type="title"/>
          </p:nvPr>
        </p:nvSpPr>
        <p:spPr/>
        <p:txBody>
          <a:bodyPr>
            <a:normAutofit/>
          </a:bodyPr>
          <a:lstStyle/>
          <a:p>
            <a:r>
              <a:rPr lang="en-US" sz="4800" cap="none" dirty="0"/>
              <a:t>Thank You For Listening</a:t>
            </a:r>
            <a:endParaRPr lang="LID4096" sz="4800" cap="none" dirty="0"/>
          </a:p>
        </p:txBody>
      </p:sp>
      <p:pic>
        <p:nvPicPr>
          <p:cNvPr id="2050" name="Picture 2" descr="Flying Dutchman's ship | Encyclopedia SpongeBobia | Fandom">
            <a:extLst>
              <a:ext uri="{FF2B5EF4-FFF2-40B4-BE49-F238E27FC236}">
                <a16:creationId xmlns:a16="http://schemas.microsoft.com/office/drawing/2014/main" id="{D4226F05-A184-7DC4-B8FE-3C3B06D9FBD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38540" y="2366963"/>
            <a:ext cx="4514919" cy="3424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2474184"/>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TM04033925[[fn=Droplet]]</Template>
  <TotalTime>217</TotalTime>
  <Words>625</Words>
  <Application>Microsoft Office PowerPoint</Application>
  <PresentationFormat>Widescreen</PresentationFormat>
  <Paragraphs>38</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Abadi</vt:lpstr>
      <vt:lpstr>Arial</vt:lpstr>
      <vt:lpstr>Tw Cen MT</vt:lpstr>
      <vt:lpstr>Droplet</vt:lpstr>
      <vt:lpstr>Shipping Company</vt:lpstr>
      <vt:lpstr>General Description</vt:lpstr>
      <vt:lpstr>The User Types Of Our Data-base System</vt:lpstr>
      <vt:lpstr>Entities</vt:lpstr>
      <vt:lpstr>Entities</vt:lpstr>
      <vt:lpstr>ERD</vt:lpstr>
      <vt:lpstr>Physical ERD</vt:lpstr>
      <vt:lpstr>Triggers</vt:lpstr>
      <vt:lpstr>PowerPoint Presentation</vt:lpstr>
      <vt:lpstr>Functions</vt:lpstr>
      <vt:lpstr>Functions</vt:lpstr>
      <vt:lpstr>Procedures</vt:lpstr>
      <vt:lpstr>PowerPoint Presentation</vt:lpstr>
      <vt:lpstr>PowerPoint Presentation</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tomer karmazin</dc:creator>
  <cp:lastModifiedBy>ariela epstein</cp:lastModifiedBy>
  <cp:revision>10</cp:revision>
  <dcterms:created xsi:type="dcterms:W3CDTF">2023-05-31T13:16:04Z</dcterms:created>
  <dcterms:modified xsi:type="dcterms:W3CDTF">2025-01-09T15:01:37Z</dcterms:modified>
</cp:coreProperties>
</file>